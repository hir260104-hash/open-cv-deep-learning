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60" r:id="rId5"/>
    <p:sldId id="262" r:id="rId6"/>
    <p:sldId id="267" r:id="rId7"/>
    <p:sldId id="268" r:id="rId8"/>
    <p:sldId id="269" r:id="rId9"/>
    <p:sldId id="270" r:id="rId10"/>
    <p:sldId id="261" r:id="rId11"/>
    <p:sldId id="263" r:id="rId12"/>
    <p:sldId id="264" r:id="rId13"/>
    <p:sldId id="266" r:id="rId14"/>
    <p:sldId id="265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4E62EF-4D10-45A4-8E93-33006F3F0BA5}" v="1712" dt="2026-01-16T02:00:47.6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48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26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650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3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292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157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235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109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25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783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231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 b="0" cap="none" spc="15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900" b="0" cap="none" spc="15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900" b="0" cap="all" spc="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5151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b="1" kern="1200" spc="9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 spc="7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 spc="7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 spc="7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 spc="7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 spc="7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ir260104-hash/open-cv-deep-learnin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6" Type="http://schemas.openxmlformats.org/officeDocument/2006/relationships/hyperlink" Target="https://youtu.be/2s959YPRBdk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YoPM140wdAg" TargetMode="External"/><Relationship Id="rId2" Type="http://schemas.openxmlformats.org/officeDocument/2006/relationships/hyperlink" Target="https://youtu.be/seZR0zApZdo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858844"/>
            <a:ext cx="6774609" cy="2634181"/>
          </a:xfrm>
        </p:spPr>
        <p:txBody>
          <a:bodyPr anchor="b">
            <a:normAutofit/>
          </a:bodyPr>
          <a:lstStyle/>
          <a:p>
            <a:r>
              <a:rPr lang="ko-KR" altLang="en-US" dirty="0">
                <a:ea typeface="Malgun Gothic"/>
              </a:rPr>
              <a:t>딥러닝 프로젝트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980661" y="960120"/>
            <a:ext cx="6708350" cy="1639407"/>
          </a:xfrm>
        </p:spPr>
        <p:txBody>
          <a:bodyPr anchor="t">
            <a:normAutofit/>
          </a:bodyPr>
          <a:lstStyle/>
          <a:p>
            <a:r>
              <a:rPr lang="ko-KR" altLang="en-US" dirty="0">
                <a:ea typeface="Malgun Gothic Semilight"/>
                <a:cs typeface="Malgun Gothic Semilight"/>
              </a:rPr>
              <a:t>발표자: </a:t>
            </a:r>
            <a:r>
              <a:rPr lang="ko-KR" altLang="en-US" dirty="0" err="1">
                <a:ea typeface="Malgun Gothic Semilight"/>
                <a:cs typeface="Malgun Gothic Semilight"/>
              </a:rPr>
              <a:t>한이루</a:t>
            </a:r>
          </a:p>
          <a:p>
            <a:r>
              <a:rPr lang="ko-KR" altLang="en-US" dirty="0" err="1">
                <a:ea typeface="Malgun Gothic Semilight"/>
                <a:cs typeface="Malgun Gothic Semilight"/>
              </a:rPr>
              <a:t>Git</a:t>
            </a:r>
            <a:r>
              <a:rPr lang="ko-KR" altLang="en-US" dirty="0">
                <a:ea typeface="Malgun Gothic Semilight"/>
                <a:cs typeface="Malgun Gothic Semilight"/>
              </a:rPr>
              <a:t>: </a:t>
            </a:r>
            <a:r>
              <a:rPr lang="ko-KR" b="0" dirty="0">
                <a:ea typeface="+mn-lt"/>
                <a:cs typeface="+mn-lt"/>
                <a:hlinkClick r:id="rId2"/>
              </a:rPr>
              <a:t>https://github.com/hir260104-hash/open-cv-deep-learning</a:t>
            </a:r>
            <a:endParaRPr lang="ko-KR" altLang="en-US">
              <a:ea typeface="Malgun Gothic Semilight"/>
              <a:cs typeface="Malgun Gothic Semiligh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51019FC-0FE0-4611-B71E-C03589FB6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0600" y="583125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E545F5-55CF-3293-930B-D80ADD362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Malgun Gothic"/>
              </a:rPr>
              <a:t>주제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11623C-BE53-95CA-9397-6A3299084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r>
              <a:rPr lang="ko-KR" dirty="0">
                <a:ea typeface="+mn-lt"/>
                <a:cs typeface="+mn-lt"/>
              </a:rPr>
              <a:t>카메라 영상 인식을 통한 딥러닝 기반 스마트 비밀번호 인증 시스템</a:t>
            </a:r>
            <a:endParaRPr lang="ko-KR" altLang="en-US" dirty="0">
              <a:ea typeface="Malgun Gothic Semilight"/>
              <a:cs typeface="Malgun Gothic Semilight"/>
            </a:endParaRPr>
          </a:p>
          <a:p>
            <a:r>
              <a:rPr lang="ko-KR" b="1" dirty="0">
                <a:ea typeface="+mn-lt"/>
                <a:cs typeface="+mn-lt"/>
              </a:rPr>
              <a:t>목표</a:t>
            </a:r>
            <a:r>
              <a:rPr lang="ko-KR" dirty="0">
                <a:ea typeface="+mn-lt"/>
                <a:cs typeface="+mn-lt"/>
              </a:rPr>
              <a:t>: 단순한 이미지 매칭이 아닌, 딥러닝(CNN</a:t>
            </a:r>
            <a:r>
              <a:rPr lang="en-US" altLang="ko-KR" dirty="0">
                <a:ea typeface="+mn-lt"/>
                <a:cs typeface="+mn-lt"/>
              </a:rPr>
              <a:t>)</a:t>
            </a:r>
            <a:r>
              <a:rPr lang="ko-KR" dirty="0">
                <a:ea typeface="+mn-lt"/>
                <a:cs typeface="+mn-lt"/>
              </a:rPr>
              <a:t>을 활용하여 다양한 환경(글씨체, 각도, 조명)에서도 높은 정확도로 숫자를 분류</a:t>
            </a:r>
          </a:p>
        </p:txBody>
      </p:sp>
    </p:spTree>
    <p:extLst>
      <p:ext uri="{BB962C8B-B14F-4D97-AF65-F5344CB8AC3E}">
        <p14:creationId xmlns:p14="http://schemas.microsoft.com/office/powerpoint/2010/main" val="2210615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BD4052-CF81-4F18-2647-37EE0543E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ea typeface="Malgun Gothic"/>
              </a:rPr>
              <a:t>전처리</a:t>
            </a:r>
            <a:r>
              <a:rPr lang="ko-KR" altLang="en-US" dirty="0">
                <a:ea typeface="Malgun Gothic"/>
              </a:rPr>
              <a:t> 단계 (이미지 정제 과정)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6728C0-5382-DDFA-BC81-955551EBA4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lIns="109728" tIns="109728" rIns="109728" bIns="91440" anchor="t"/>
          <a:lstStyle/>
          <a:p>
            <a:r>
              <a:rPr lang="ko-KR" sz="1400" b="1" dirty="0">
                <a:ea typeface="+mn-lt"/>
                <a:cs typeface="+mn-lt"/>
              </a:rPr>
              <a:t>경계선 노이즈 제거</a:t>
            </a:r>
            <a:endParaRPr lang="ko-KR" sz="1400" dirty="0">
              <a:ea typeface="+mn-lt"/>
              <a:cs typeface="+mn-lt"/>
            </a:endParaRP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ko-KR" sz="1400" dirty="0">
                <a:ea typeface="+mn-lt"/>
                <a:cs typeface="+mn-lt"/>
              </a:rPr>
              <a:t>테두리의 불필요한 선이 숫자로 인식되는 것 방지</a:t>
            </a:r>
            <a:endParaRPr lang="ko-KR" altLang="en-US" sz="1400" dirty="0">
              <a:ea typeface="+mn-lt"/>
              <a:cs typeface="+mn-lt"/>
            </a:endParaRPr>
          </a:p>
          <a:p>
            <a:r>
              <a:rPr lang="en-US" altLang="ko-KR" sz="1400" b="1" dirty="0">
                <a:ea typeface="+mn-lt"/>
                <a:cs typeface="+mn-lt"/>
              </a:rPr>
              <a:t>MNIST</a:t>
            </a:r>
            <a:r>
              <a:rPr lang="ko-KR" altLang="en-US" sz="1400" b="1" dirty="0">
                <a:ea typeface="+mn-lt"/>
                <a:cs typeface="+mn-lt"/>
              </a:rPr>
              <a:t> 규격 최적화</a:t>
            </a:r>
            <a:endParaRPr lang="ko-KR" altLang="en-US" sz="1400" dirty="0">
              <a:ea typeface="+mn-lt"/>
              <a:cs typeface="+mn-lt"/>
            </a:endParaRP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ko-KR" altLang="en-US" sz="1400" dirty="0">
                <a:ea typeface="+mn-lt"/>
                <a:cs typeface="+mn-lt"/>
              </a:rPr>
              <a:t>검은 배경에 흰 글씨인 학습 데이터셋 형식과 일치화</a:t>
            </a:r>
          </a:p>
          <a:p>
            <a:r>
              <a:rPr lang="ko-KR" sz="1400" b="1" dirty="0">
                <a:ea typeface="+mn-lt"/>
                <a:cs typeface="+mn-lt"/>
              </a:rPr>
              <a:t>지역적 대비 </a:t>
            </a:r>
            <a:r>
              <a:rPr lang="ko-KR" altLang="en-US" sz="1400" b="1" dirty="0">
                <a:ea typeface="+mn-lt"/>
                <a:cs typeface="+mn-lt"/>
              </a:rPr>
              <a:t>극대화 (CLAHE)</a:t>
            </a:r>
            <a:endParaRPr lang="ko-KR" sz="1400" dirty="0">
              <a:ea typeface="+mn-lt"/>
              <a:cs typeface="+mn-lt"/>
            </a:endParaRP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ko-KR" altLang="en-US" sz="1400" dirty="0">
                <a:ea typeface="+mn-lt"/>
                <a:cs typeface="+mn-lt"/>
              </a:rPr>
              <a:t>조명</a:t>
            </a:r>
            <a:r>
              <a:rPr lang="ko-KR" sz="1400" dirty="0">
                <a:ea typeface="+mn-lt"/>
                <a:cs typeface="+mn-lt"/>
              </a:rPr>
              <a:t> 불균형을 해결하여 숫자의 형태를 뚜렷하게 보정</a:t>
            </a:r>
            <a:endParaRPr lang="ko-KR" sz="1400" dirty="0">
              <a:ea typeface="Malgun Gothic Semilight"/>
              <a:cs typeface="Malgun Gothic Semilight"/>
            </a:endParaRPr>
          </a:p>
          <a:p>
            <a:r>
              <a:rPr lang="ko-KR" sz="1400" b="1" dirty="0">
                <a:ea typeface="+mn-lt"/>
                <a:cs typeface="+mn-lt"/>
              </a:rPr>
              <a:t>조명 변화에 강인한 </a:t>
            </a:r>
            <a:r>
              <a:rPr lang="ko-KR" altLang="en-US" sz="1400" b="1" dirty="0">
                <a:ea typeface="+mn-lt"/>
                <a:cs typeface="+mn-lt"/>
              </a:rPr>
              <a:t>이진화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ko-KR" altLang="en-US" sz="1400" dirty="0">
                <a:ea typeface="+mn-lt"/>
                <a:cs typeface="+mn-lt"/>
              </a:rPr>
              <a:t>위치마다</a:t>
            </a:r>
            <a:r>
              <a:rPr lang="ko-KR" sz="1400" dirty="0">
                <a:ea typeface="+mn-lt"/>
                <a:cs typeface="+mn-lt"/>
              </a:rPr>
              <a:t> 다른 밝기 값을 계산해 정확한 흑백 분리</a:t>
            </a:r>
            <a:endParaRPr lang="ko-KR" sz="1400" dirty="0">
              <a:ea typeface="Malgun Gothic Semilight"/>
              <a:cs typeface="Malgun Gothic Semilight"/>
            </a:endParaRPr>
          </a:p>
          <a:p>
            <a:r>
              <a:rPr lang="ko-KR" altLang="en-US" sz="1400" b="1" dirty="0">
                <a:ea typeface="+mn-lt"/>
                <a:cs typeface="+mn-lt"/>
              </a:rPr>
              <a:t>객체 분할</a:t>
            </a:r>
            <a:r>
              <a:rPr lang="en-US" altLang="ko-KR" sz="1400" b="1" dirty="0">
                <a:ea typeface="+mn-lt"/>
                <a:cs typeface="+mn-lt"/>
              </a:rPr>
              <a:t>(Contours)</a:t>
            </a:r>
            <a:endParaRPr lang="ko-KR" altLang="en-US" sz="1400" dirty="0">
              <a:ea typeface="+mn-lt"/>
              <a:cs typeface="+mn-lt"/>
            </a:endParaRP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ko-KR" altLang="en-US" sz="1400" dirty="0">
                <a:ea typeface="+mn-lt"/>
                <a:cs typeface="+mn-lt"/>
              </a:rPr>
              <a:t>추출된 외곽선을 기준으로 개별 숫자 영역 분리</a:t>
            </a:r>
            <a:endParaRPr lang="en-US" altLang="ko-KR" sz="1400" dirty="0">
              <a:ea typeface="Malgun Gothic Semilight"/>
              <a:cs typeface="Malgun Gothic Semilight"/>
            </a:endParaRPr>
          </a:p>
          <a:p>
            <a:endParaRPr lang="ko-KR" altLang="en-US" sz="1400" dirty="0">
              <a:ea typeface="Malgun Gothic Semilight"/>
              <a:cs typeface="Malgun Gothic Semilight"/>
            </a:endParaRPr>
          </a:p>
        </p:txBody>
      </p:sp>
      <p:pic>
        <p:nvPicPr>
          <p:cNvPr id="6" name="내용 개체 틀 5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D5A423-CF95-E0DB-7AAF-ACA30FED3E0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07758" y="2472250"/>
            <a:ext cx="4550722" cy="16744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FA9518-A0FD-DDC1-4E8E-7F3A8288D2D2}"/>
              </a:ext>
            </a:extLst>
          </p:cNvPr>
          <p:cNvSpPr txBox="1"/>
          <p:nvPr/>
        </p:nvSpPr>
        <p:spPr>
          <a:xfrm>
            <a:off x="6142944" y="6041176"/>
            <a:ext cx="554678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400" dirty="0">
                <a:ea typeface="Malgun Gothic Semilight"/>
                <a:cs typeface="Malgun Gothic Semilight"/>
              </a:rPr>
              <a:t>"딥러닝 모델의 성능을 극대화하기 위해, 영상을 표준화된 학습 데이터 규격으로 정제하는 '데이터 엔지니어링' 단계</a:t>
            </a:r>
            <a:r>
              <a:rPr lang="en-US" sz="1400" dirty="0">
                <a:ea typeface="+mn-lt"/>
                <a:cs typeface="Malgun Gothic Semilight"/>
              </a:rPr>
              <a:t>"</a:t>
            </a:r>
            <a:endParaRPr lang="ko-KR" dirty="0">
              <a:ea typeface="+mn-lt"/>
            </a:endParaRPr>
          </a:p>
        </p:txBody>
      </p:sp>
      <p:pic>
        <p:nvPicPr>
          <p:cNvPr id="7" name="그림 6" descr="스크린샷, 텍스트, 그래픽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3420A9-1DBC-44BB-C7C1-222ADBE93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525" y="4140230"/>
            <a:ext cx="3345253" cy="166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719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1A913-A193-9A57-710A-5B5B7D3DA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33064-5220-6A41-4B58-EAA0AD9B9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Malgun Gothic"/>
              </a:rPr>
              <a:t>사용자 정의 데이터셋 구축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96C5F5-197E-F6ED-9748-4FEB59975D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lIns="109728" tIns="109728" rIns="109728" bIns="91440" anchor="t"/>
          <a:lstStyle/>
          <a:p>
            <a:r>
              <a:rPr lang="ko-KR" sz="1600" dirty="0">
                <a:ea typeface="+mn-lt"/>
                <a:cs typeface="+mn-lt"/>
              </a:rPr>
              <a:t>개인별 필체 특성 학습을 위한 실시간 샘플링</a:t>
            </a:r>
            <a:endParaRPr lang="ko-KR" altLang="en-US" sz="1600">
              <a:ea typeface="Malgun Gothic Semilight"/>
              <a:cs typeface="Malgun Gothic Semilight"/>
            </a:endParaRPr>
          </a:p>
          <a:p>
            <a:r>
              <a:rPr lang="ko-KR" altLang="en-US" sz="1600" b="1" dirty="0">
                <a:ea typeface="+mn-lt"/>
                <a:cs typeface="+mn-lt"/>
              </a:rPr>
              <a:t>인터랙티브 레이블링</a:t>
            </a:r>
            <a:r>
              <a:rPr lang="en-US" altLang="ko-KR" sz="1600" dirty="0">
                <a:ea typeface="+mn-lt"/>
                <a:cs typeface="+mn-lt"/>
              </a:rPr>
              <a:t>:</a:t>
            </a:r>
            <a:r>
              <a:rPr lang="ko-KR" altLang="en-US" sz="1600" dirty="0">
                <a:ea typeface="+mn-lt"/>
                <a:cs typeface="+mn-lt"/>
              </a:rPr>
              <a:t> </a:t>
            </a:r>
            <a:r>
              <a:rPr lang="ko-KR" sz="1600" dirty="0">
                <a:ea typeface="+mn-lt"/>
                <a:cs typeface="+mn-lt"/>
              </a:rPr>
              <a:t>ROI 내 입력된 숫자를 키보드 이벤트(0~9)와 매핑하여 자동 데이터 분류 및 저장</a:t>
            </a:r>
          </a:p>
          <a:p>
            <a:r>
              <a:rPr lang="ko-KR" sz="1600" b="1" dirty="0">
                <a:ea typeface="+mn-lt"/>
                <a:cs typeface="+mn-lt"/>
              </a:rPr>
              <a:t>데이터 증강 적용</a:t>
            </a:r>
            <a:r>
              <a:rPr lang="ko-KR" sz="1600" dirty="0">
                <a:ea typeface="+mn-lt"/>
                <a:cs typeface="+mn-lt"/>
              </a:rPr>
              <a:t>: 1회 캡처 시 회전</a:t>
            </a:r>
            <a:r>
              <a:rPr lang="en-US" altLang="ko-KR" sz="1600" dirty="0">
                <a:ea typeface="+mn-lt"/>
                <a:cs typeface="+mn-lt"/>
              </a:rPr>
              <a:t>,</a:t>
            </a:r>
            <a:r>
              <a:rPr lang="ko-KR" sz="1600" dirty="0">
                <a:ea typeface="+mn-lt"/>
                <a:cs typeface="+mn-lt"/>
              </a:rPr>
              <a:t> 이동</a:t>
            </a:r>
            <a:r>
              <a:rPr lang="en-US" altLang="ko-KR" sz="1600" dirty="0">
                <a:ea typeface="+mn-lt"/>
                <a:cs typeface="+mn-lt"/>
              </a:rPr>
              <a:t>,</a:t>
            </a:r>
            <a:r>
              <a:rPr lang="ko-KR" sz="1600" dirty="0">
                <a:ea typeface="+mn-lt"/>
                <a:cs typeface="+mn-lt"/>
              </a:rPr>
              <a:t> 확대/축소 등의 변환을 동시 적용하여 데이터 부족 문제 해결 및 모델의 </a:t>
            </a:r>
            <a:r>
              <a:rPr lang="ko-KR" sz="1600" b="1" dirty="0">
                <a:ea typeface="+mn-lt"/>
                <a:cs typeface="+mn-lt"/>
              </a:rPr>
              <a:t>일반화 성능</a:t>
            </a:r>
            <a:r>
              <a:rPr lang="ko-KR" sz="1600" dirty="0">
                <a:ea typeface="+mn-lt"/>
                <a:cs typeface="+mn-lt"/>
              </a:rPr>
              <a:t> 극대화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DC1E78B-FF53-CE9B-20F9-49E34E113ED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684561" y="2629806"/>
            <a:ext cx="266700" cy="2667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7E5C430-D9E4-452B-132F-CA4D139EC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0389" y="3847824"/>
            <a:ext cx="266700" cy="2667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3592944-AC42-FAF7-F412-99AF7CCDD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998" y="5349737"/>
            <a:ext cx="266700" cy="2667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08DB28D-14F3-099F-E9EC-A3AECF1EB2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8389" y="5493302"/>
            <a:ext cx="266700" cy="2667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00E350E-8C8A-79F1-E355-DAF1F119FF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8389" y="3847824"/>
            <a:ext cx="266700" cy="2667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6D0E66A-064B-F398-1187-A8F69052E5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1607" y="2334867"/>
            <a:ext cx="266700" cy="2667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B441D6A-2076-F217-1F12-0CC872D37B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0911" y="4764433"/>
            <a:ext cx="266700" cy="2667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0E4FA2A-1786-B291-E932-855AB5CCA0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6563" y="4764433"/>
            <a:ext cx="266700" cy="2667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4CEB78A-EDFC-9A31-38EE-2E47E0F7DF3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5954" y="3571737"/>
            <a:ext cx="266700" cy="2667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502ED49-FA6C-CC8F-E3AB-715D7F8B095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1520" y="3295650"/>
            <a:ext cx="266700" cy="2667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3349954-85FB-EB1F-5B5A-3C0CECD4863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52911" y="5349737"/>
            <a:ext cx="266700" cy="2667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5965C9A-9C19-196A-E9AE-93E95E94798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61607" y="3847824"/>
            <a:ext cx="266700" cy="2667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E69252A-DD75-01E5-F03E-1390244515A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68389" y="3163128"/>
            <a:ext cx="266700" cy="2667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65D3F46-BB30-A98B-7784-A5ABC06FDE3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23520" y="4278520"/>
            <a:ext cx="266700" cy="266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0ADB0C-B3FE-4232-D4C0-2CEC0BCBB2AB}"/>
              </a:ext>
            </a:extLst>
          </p:cNvPr>
          <p:cNvSpPr txBox="1"/>
          <p:nvPr/>
        </p:nvSpPr>
        <p:spPr>
          <a:xfrm>
            <a:off x="917647" y="5661653"/>
            <a:ext cx="447702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400" dirty="0">
                <a:ea typeface="Malgun Gothic Semilight"/>
                <a:cs typeface="Malgun Gothic Semilight"/>
                <a:hlinkClick r:id="rId16"/>
              </a:rPr>
              <a:t>학습용 이미지 캡쳐 영상</a:t>
            </a:r>
          </a:p>
        </p:txBody>
      </p:sp>
    </p:spTree>
    <p:extLst>
      <p:ext uri="{BB962C8B-B14F-4D97-AF65-F5344CB8AC3E}">
        <p14:creationId xmlns:p14="http://schemas.microsoft.com/office/powerpoint/2010/main" val="542803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C03BF-F3EB-217C-AB69-07B1C74D2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ADEEC6-8C23-D762-B3CA-94673509B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Malgun Gothic"/>
              </a:rPr>
              <a:t>모델 학습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670B32-FE51-FB90-102C-547BD33BE4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lIns="109728" tIns="109728" rIns="109728" bIns="91440" anchor="t"/>
          <a:lstStyle/>
          <a:p>
            <a:r>
              <a:rPr lang="ko-KR" b="1" dirty="0">
                <a:ea typeface="+mn-lt"/>
                <a:cs typeface="+mn-lt"/>
              </a:rPr>
              <a:t>기본 모델 (MNIST)</a:t>
            </a:r>
            <a:r>
              <a:rPr lang="ko-KR" dirty="0">
                <a:ea typeface="+mn-lt"/>
                <a:cs typeface="+mn-lt"/>
              </a:rPr>
              <a:t>: 수만 장의 표준 숫자 데이터를 통해 "숫자의 기본 </a:t>
            </a:r>
            <a:r>
              <a:rPr lang="ko-KR" dirty="0" err="1">
                <a:ea typeface="+mn-lt"/>
                <a:cs typeface="+mn-lt"/>
              </a:rPr>
              <a:t>형태"를</a:t>
            </a:r>
            <a:r>
              <a:rPr lang="ko-KR" dirty="0">
                <a:ea typeface="+mn-lt"/>
                <a:cs typeface="+mn-lt"/>
              </a:rPr>
              <a:t> 학습.</a:t>
            </a:r>
            <a:endParaRPr lang="ko-KR" altLang="en-US" dirty="0">
              <a:ea typeface="+mn-lt"/>
              <a:cs typeface="+mn-lt"/>
            </a:endParaRPr>
          </a:p>
          <a:p>
            <a:r>
              <a:rPr lang="en-US" altLang="ko-KR" b="1" dirty="0" err="1">
                <a:ea typeface="+mn-lt"/>
                <a:cs typeface="+mn-lt"/>
              </a:rPr>
              <a:t>튜닝</a:t>
            </a:r>
            <a:r>
              <a:rPr lang="en-US" altLang="ko-KR" b="1" dirty="0">
                <a:ea typeface="+mn-lt"/>
                <a:cs typeface="+mn-lt"/>
              </a:rPr>
              <a:t> </a:t>
            </a:r>
            <a:r>
              <a:rPr lang="en-US" altLang="ko-KR" b="1" dirty="0" err="1">
                <a:ea typeface="+mn-lt"/>
                <a:cs typeface="+mn-lt"/>
              </a:rPr>
              <a:t>모델</a:t>
            </a:r>
            <a:r>
              <a:rPr lang="en-US" altLang="ko-KR" b="1" dirty="0">
                <a:ea typeface="+mn-lt"/>
                <a:cs typeface="+mn-lt"/>
              </a:rPr>
              <a:t> </a:t>
            </a:r>
            <a:r>
              <a:rPr lang="ko-KR" b="1" dirty="0">
                <a:ea typeface="+mn-lt"/>
                <a:cs typeface="+mn-lt"/>
              </a:rPr>
              <a:t>모델 (사용자 데이터</a:t>
            </a:r>
            <a:r>
              <a:rPr lang="en-US" altLang="ko-KR" b="1" dirty="0">
                <a:ea typeface="+mn-lt"/>
                <a:cs typeface="+mn-lt"/>
              </a:rPr>
              <a:t>+MNIST)</a:t>
            </a:r>
            <a:r>
              <a:rPr lang="en-US" altLang="ko-KR" dirty="0">
                <a:ea typeface="+mn-lt"/>
                <a:cs typeface="+mn-lt"/>
              </a:rPr>
              <a:t>:</a:t>
            </a:r>
            <a:r>
              <a:rPr lang="ko-KR" dirty="0">
                <a:ea typeface="+mn-lt"/>
                <a:cs typeface="+mn-lt"/>
              </a:rPr>
              <a:t> 내가 직접 카메라로 찍은 데이터를 추가 학습하여 "내 </a:t>
            </a:r>
            <a:r>
              <a:rPr lang="ko-KR" dirty="0" err="1">
                <a:ea typeface="+mn-lt"/>
                <a:cs typeface="+mn-lt"/>
              </a:rPr>
              <a:t>필체"에</a:t>
            </a:r>
            <a:r>
              <a:rPr lang="ko-KR" dirty="0">
                <a:ea typeface="+mn-lt"/>
                <a:cs typeface="+mn-lt"/>
              </a:rPr>
              <a:t> 최적화.</a:t>
            </a:r>
          </a:p>
          <a:p>
            <a:r>
              <a:rPr lang="ko-KR" b="1" dirty="0">
                <a:ea typeface="+mn-lt"/>
                <a:cs typeface="+mn-lt"/>
              </a:rPr>
              <a:t>학습 전략</a:t>
            </a:r>
            <a:r>
              <a:rPr lang="ko-KR" dirty="0">
                <a:ea typeface="+mn-lt"/>
                <a:cs typeface="+mn-lt"/>
              </a:rPr>
              <a:t>: 기본 지식 위에 내 데이터를 얹어 정확도를 극대화함.</a:t>
            </a:r>
            <a:endParaRPr lang="ko-KR" dirty="0"/>
          </a:p>
          <a:p>
            <a:endParaRPr lang="ko-KR" dirty="0">
              <a:ea typeface="Malgun Gothic Semilight"/>
              <a:cs typeface="Malgun Gothic Semilight"/>
            </a:endParaRPr>
          </a:p>
        </p:txBody>
      </p:sp>
      <p:pic>
        <p:nvPicPr>
          <p:cNvPr id="8" name="내용 개체 틀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0AA0CF-FD6F-298D-E131-F1BF4896EA6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29971" y="2480444"/>
            <a:ext cx="5212080" cy="26132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6E6101-CAC4-0A84-DFF2-5AB4C3543665}"/>
              </a:ext>
            </a:extLst>
          </p:cNvPr>
          <p:cNvSpPr txBox="1"/>
          <p:nvPr/>
        </p:nvSpPr>
        <p:spPr>
          <a:xfrm>
            <a:off x="6323377" y="5727013"/>
            <a:ext cx="5227982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400" b="1" dirty="0">
                <a:ea typeface="+mn-lt"/>
                <a:cs typeface="+mn-lt"/>
              </a:rPr>
              <a:t>"CNN(</a:t>
            </a:r>
            <a:r>
              <a:rPr lang="ko-KR" sz="1400" b="1" dirty="0" err="1">
                <a:ea typeface="+mn-lt"/>
                <a:cs typeface="+mn-lt"/>
              </a:rPr>
              <a:t>합성곱</a:t>
            </a:r>
            <a:r>
              <a:rPr lang="ko-KR" sz="1400" b="1" dirty="0">
                <a:ea typeface="+mn-lt"/>
                <a:cs typeface="+mn-lt"/>
              </a:rPr>
              <a:t> 신경망) 구조를 채택하여 이미지의 특징을 스스로 추출하게 하였으며, 사용자 데이터를 결합하여 실전 인식 성공률을 개선하려고 </a:t>
            </a:r>
            <a:r>
              <a:rPr lang="ko-KR" altLang="en-US" sz="1400" b="1" dirty="0">
                <a:ea typeface="+mn-lt"/>
                <a:cs typeface="+mn-lt"/>
              </a:rPr>
              <a:t>함</a:t>
            </a:r>
            <a:r>
              <a:rPr lang="ko-KR" sz="1400" b="1" dirty="0">
                <a:ea typeface="+mn-lt"/>
                <a:cs typeface="+mn-lt"/>
              </a:rPr>
              <a:t>"</a:t>
            </a:r>
            <a:endParaRPr lang="ko-KR" sz="1400" b="1" dirty="0">
              <a:ea typeface="Malgun Gothic Semilight"/>
              <a:cs typeface="Malgun Gothic Semilight"/>
            </a:endParaRPr>
          </a:p>
          <a:p>
            <a:pPr algn="l"/>
            <a:endParaRPr lang="ko-KR" altLang="en-US" sz="1400" dirty="0">
              <a:ea typeface="Malgun Gothic Semilight"/>
              <a:cs typeface="Malgun Gothic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3087297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D039C3-B4BC-B9EF-BE71-2021ABBF1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Malgun Gothic"/>
              </a:rPr>
              <a:t>기본 모델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6C7135-B900-49CA-2F16-AAEFAF14C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ko-KR" altLang="en-US" dirty="0" err="1">
                <a:ea typeface="Malgun Gothic Semilight"/>
                <a:cs typeface="Malgun Gothic Semilight"/>
              </a:rPr>
              <a:t>전처리</a:t>
            </a:r>
          </a:p>
        </p:txBody>
      </p:sp>
      <p:pic>
        <p:nvPicPr>
          <p:cNvPr id="7" name="내용 개체 틀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744793-A9A7-1B91-D619-025360D3B2A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0079" y="3868155"/>
            <a:ext cx="5212080" cy="1468396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8A78F3F-9E62-5598-F190-53821F31D0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>
                <a:ea typeface="Malgun Gothic Semilight"/>
                <a:cs typeface="Malgun Gothic Semilight"/>
              </a:rPr>
              <a:t>2. 모델 설계</a:t>
            </a:r>
            <a:endParaRPr lang="ko-KR" altLang="en-US" dirty="0"/>
          </a:p>
        </p:txBody>
      </p:sp>
      <p:pic>
        <p:nvPicPr>
          <p:cNvPr id="8" name="내용 개체 틀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2DD668-F1E9-E8C9-0099-59FBA7C572D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510380" y="3397440"/>
            <a:ext cx="4829175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242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5EC91-7AAE-64F0-EED7-AC7DDD81E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619ADF-961B-65AB-AD37-5F56980DF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Malgun Gothic"/>
              </a:rPr>
              <a:t>기본 모델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2B5445-E932-2FC8-43BC-17A2AE8D8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>
                <a:ea typeface="Malgun Gothic Semilight"/>
                <a:cs typeface="Malgun Gothic Semilight"/>
              </a:rPr>
              <a:t>3. 학습 설정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15557B7-D9B0-3E0D-FC7A-0BC5D5CED7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>
                <a:ea typeface="Malgun Gothic Semilight"/>
                <a:cs typeface="Malgun Gothic Semilight"/>
              </a:rPr>
              <a:t>4. 학습 시작</a:t>
            </a:r>
          </a:p>
        </p:txBody>
      </p:sp>
      <p:pic>
        <p:nvPicPr>
          <p:cNvPr id="9" name="내용 개체 틀 8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43871E-8E3D-E5ED-A971-B98E8ABD337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0556" y="4092765"/>
            <a:ext cx="5191125" cy="1019175"/>
          </a:xfrm>
          <a:prstGeom prst="rect">
            <a:avLst/>
          </a:prstGeom>
        </p:spPr>
      </p:pic>
      <p:pic>
        <p:nvPicPr>
          <p:cNvPr id="12" name="내용 개체 틀 11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980943-9171-E60A-5EF9-53580E6B931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7724818" y="3792728"/>
            <a:ext cx="240030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990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B4ECD-A5D8-5282-4D4C-BD3DDB442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61F487-2864-B97B-BE00-9B36CB3DB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Malgun Gothic"/>
              </a:rPr>
              <a:t>튜닝 모델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EA4595-EA7B-8E86-A592-CE1926E49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ko-KR" altLang="en-US" dirty="0" err="1">
                <a:ea typeface="Malgun Gothic Semilight"/>
                <a:cs typeface="Malgun Gothic Semilight"/>
              </a:rPr>
              <a:t>전처리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972E01-9EA6-AC96-0AE6-63F4FCB40E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>
                <a:ea typeface="Malgun Gothic Semilight"/>
                <a:cs typeface="Malgun Gothic Semilight"/>
              </a:rPr>
              <a:t>2. 모델 설계</a:t>
            </a:r>
            <a:endParaRPr lang="ko-KR" altLang="en-US" dirty="0"/>
          </a:p>
        </p:txBody>
      </p:sp>
      <p:pic>
        <p:nvPicPr>
          <p:cNvPr id="12" name="내용 개체 틀 1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3D4562-6C41-1E32-03C4-D2376D7A86C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91779" y="3006725"/>
            <a:ext cx="4108680" cy="3191256"/>
          </a:xfrm>
          <a:prstGeom prst="rect">
            <a:avLst/>
          </a:prstGeom>
        </p:spPr>
      </p:pic>
      <p:pic>
        <p:nvPicPr>
          <p:cNvPr id="15" name="내용 개체 틀 1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DB2EF2-DBE9-1DD8-CE95-B96481B6DAF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318928" y="3105349"/>
            <a:ext cx="5212080" cy="299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95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21E76-9C3E-8FA2-5912-E6BB6B21E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453381-0A1E-D266-FB19-74980D49E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Malgun Gothic"/>
              </a:rPr>
              <a:t>튜닝 모델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916C85-EBAA-9A4D-C6AF-462FEA53A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>
                <a:ea typeface="Malgun Gothic Semilight"/>
                <a:cs typeface="Malgun Gothic Semilight"/>
              </a:rPr>
              <a:t>3. 학습 설정 및 시작1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08A564E-221D-4F94-D2A9-FADE32E52E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>
                <a:ea typeface="Malgun Gothic Semilight"/>
                <a:cs typeface="Malgun Gothic Semilight"/>
              </a:rPr>
              <a:t>4. 학습 설정 및 시작2</a:t>
            </a:r>
            <a:endParaRPr lang="ko-KR" altLang="en-US" dirty="0"/>
          </a:p>
        </p:txBody>
      </p:sp>
      <p:pic>
        <p:nvPicPr>
          <p:cNvPr id="7" name="내용 개체 틀 6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BFD2305-5036-37DB-2E55-8D460DFDB5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0079" y="4450678"/>
            <a:ext cx="5212080" cy="303349"/>
          </a:xfrm>
          <a:prstGeom prst="rect">
            <a:avLst/>
          </a:prstGeom>
        </p:spPr>
      </p:pic>
      <p:pic>
        <p:nvPicPr>
          <p:cNvPr id="14" name="내용 개체 틀 1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22A3C2-F117-37D1-6946-3AD0CDE342C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969517" y="3006725"/>
            <a:ext cx="3910902" cy="31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682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F974DB-9FA5-EF89-7259-250411EBC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Malgun Gothic"/>
              </a:rPr>
              <a:t>모델 비교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1C7C0F-7837-60E7-EE55-19102080DF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lIns="109728" tIns="109728" rIns="109728" bIns="91440" anchor="t"/>
          <a:lstStyle/>
          <a:p>
            <a:r>
              <a:rPr lang="ko-KR" sz="1600" dirty="0">
                <a:ea typeface="+mn-lt"/>
                <a:cs typeface="+mn-lt"/>
              </a:rPr>
              <a:t>정확도(</a:t>
            </a:r>
            <a:r>
              <a:rPr lang="ko-KR" sz="1600" err="1">
                <a:ea typeface="+mn-lt"/>
                <a:cs typeface="+mn-lt"/>
              </a:rPr>
              <a:t>Accuracy</a:t>
            </a:r>
            <a:r>
              <a:rPr lang="ko-KR" sz="1600" dirty="0">
                <a:ea typeface="+mn-lt"/>
                <a:cs typeface="+mn-lt"/>
              </a:rPr>
              <a:t>): 전체적으로 얼마나 잘 맞히나</a:t>
            </a:r>
            <a:r>
              <a:rPr lang="en-US" altLang="ko-KR" sz="1600" dirty="0">
                <a:ea typeface="+mn-lt"/>
                <a:cs typeface="+mn-lt"/>
              </a:rPr>
              <a:t>?</a:t>
            </a:r>
            <a:endParaRPr lang="ko-KR" altLang="en-US" sz="1600" dirty="0">
              <a:ea typeface="Malgun Gothic Semilight"/>
              <a:cs typeface="Malgun Gothic Semilight"/>
            </a:endParaRPr>
          </a:p>
          <a:p>
            <a:r>
              <a:rPr lang="ko-KR" altLang="en-US" sz="1600" dirty="0">
                <a:ea typeface="+mn-lt"/>
                <a:cs typeface="+mn-lt"/>
              </a:rPr>
              <a:t>정밀도</a:t>
            </a:r>
            <a:r>
              <a:rPr lang="en-US" altLang="ko-KR" sz="1600" dirty="0">
                <a:ea typeface="+mn-lt"/>
                <a:cs typeface="+mn-lt"/>
              </a:rPr>
              <a:t>(Precision):</a:t>
            </a:r>
            <a:r>
              <a:rPr lang="ko-KR" altLang="en-US" sz="1600" dirty="0">
                <a:ea typeface="+mn-lt"/>
                <a:cs typeface="+mn-lt"/>
              </a:rPr>
              <a:t> 보안성 </a:t>
            </a:r>
            <a:r>
              <a:rPr lang="en-US" altLang="ko-KR" sz="1600" dirty="0">
                <a:ea typeface="+mn-lt"/>
                <a:cs typeface="+mn-lt"/>
              </a:rPr>
              <a:t>(</a:t>
            </a:r>
            <a:r>
              <a:rPr lang="ko-KR" altLang="en-US" sz="1600" dirty="0">
                <a:ea typeface="+mn-lt"/>
                <a:cs typeface="+mn-lt"/>
              </a:rPr>
              <a:t>보안 사고 방지</a:t>
            </a:r>
            <a:r>
              <a:rPr lang="en-US" altLang="ko-KR" sz="1600" dirty="0">
                <a:ea typeface="+mn-lt"/>
                <a:cs typeface="+mn-lt"/>
              </a:rPr>
              <a:t>)</a:t>
            </a:r>
            <a:endParaRPr lang="en-US" altLang="ko-KR" sz="1600" dirty="0">
              <a:ea typeface="Malgun Gothic Semilight"/>
              <a:cs typeface="Malgun Gothic Semilight"/>
            </a:endParaRPr>
          </a:p>
          <a:p>
            <a:r>
              <a:rPr lang="en-US" sz="1600" err="1">
                <a:ea typeface="+mn-lt"/>
                <a:cs typeface="+mn-lt"/>
              </a:rPr>
              <a:t>재현율</a:t>
            </a:r>
            <a:r>
              <a:rPr lang="en-US" sz="1600" dirty="0">
                <a:ea typeface="+mn-lt"/>
                <a:cs typeface="+mn-lt"/>
              </a:rPr>
              <a:t>(Recall): </a:t>
            </a:r>
            <a:r>
              <a:rPr lang="en-US" sz="1600" err="1">
                <a:ea typeface="+mn-lt"/>
                <a:cs typeface="+mn-lt"/>
              </a:rPr>
              <a:t>사용자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편의성</a:t>
            </a:r>
            <a:r>
              <a:rPr lang="en-US" sz="1600" dirty="0">
                <a:ea typeface="+mn-lt"/>
                <a:cs typeface="+mn-lt"/>
              </a:rPr>
              <a:t> (</a:t>
            </a:r>
            <a:r>
              <a:rPr lang="en-US" sz="1600" err="1">
                <a:ea typeface="+mn-lt"/>
                <a:cs typeface="+mn-lt"/>
              </a:rPr>
              <a:t>인식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성공률</a:t>
            </a:r>
            <a:r>
              <a:rPr lang="en-US" sz="1600" dirty="0">
                <a:ea typeface="+mn-lt"/>
                <a:cs typeface="+mn-lt"/>
              </a:rPr>
              <a:t>)</a:t>
            </a:r>
            <a:endParaRPr lang="en-US" altLang="ko-KR" sz="1600" dirty="0">
              <a:ea typeface="Malgun Gothic Semilight"/>
              <a:cs typeface="Malgun Gothic Semilight"/>
            </a:endParaRPr>
          </a:p>
          <a:p>
            <a:endParaRPr lang="ko-KR" altLang="en-US" sz="1600" dirty="0">
              <a:ea typeface="+mn-lt"/>
              <a:cs typeface="+mn-lt"/>
            </a:endParaRPr>
          </a:p>
          <a:p>
            <a:r>
              <a:rPr lang="ko-KR" altLang="en-US" sz="1600" dirty="0">
                <a:ea typeface="+mn-lt"/>
                <a:cs typeface="+mn-lt"/>
              </a:rPr>
              <a:t>(의문점) 학습 후 전체적인 성능은 올라갔으나, 숫자 '8'의 경우 재현율이 </a:t>
            </a:r>
            <a:r>
              <a:rPr lang="ko-KR" sz="1600" dirty="0">
                <a:ea typeface="+mn-lt"/>
                <a:cs typeface="+mn-lt"/>
              </a:rPr>
              <a:t>미세하게 </a:t>
            </a:r>
            <a:r>
              <a:rPr lang="ko-KR" altLang="en-US" sz="1600" dirty="0">
                <a:ea typeface="+mn-lt"/>
                <a:cs typeface="+mn-lt"/>
              </a:rPr>
              <a:t>하락함</a:t>
            </a:r>
            <a:r>
              <a:rPr lang="ko-KR" sz="1600" dirty="0">
                <a:ea typeface="+mn-lt"/>
                <a:cs typeface="+mn-lt"/>
              </a:rPr>
              <a:t>. </a:t>
            </a:r>
            <a:r>
              <a:rPr lang="ko-KR" altLang="en-US" sz="1600" dirty="0">
                <a:ea typeface="+mn-lt"/>
                <a:cs typeface="+mn-lt"/>
              </a:rPr>
              <a:t>하지만 </a:t>
            </a:r>
            <a:r>
              <a:rPr lang="ko-KR" sz="1600" dirty="0">
                <a:ea typeface="+mn-lt"/>
                <a:cs typeface="+mn-lt"/>
              </a:rPr>
              <a:t>직접 </a:t>
            </a:r>
            <a:r>
              <a:rPr lang="ko-KR" altLang="en-US" sz="1600" dirty="0">
                <a:ea typeface="+mn-lt"/>
                <a:cs typeface="+mn-lt"/>
              </a:rPr>
              <a:t>테스트</a:t>
            </a:r>
            <a:r>
              <a:rPr lang="ko-KR" sz="1600" dirty="0">
                <a:ea typeface="+mn-lt"/>
                <a:cs typeface="+mn-lt"/>
              </a:rPr>
              <a:t> 해봤을 땐 </a:t>
            </a:r>
            <a:r>
              <a:rPr lang="ko-KR" altLang="en-US" sz="1600" dirty="0">
                <a:ea typeface="+mn-lt"/>
                <a:cs typeface="+mn-lt"/>
              </a:rPr>
              <a:t>학습 후 </a:t>
            </a:r>
            <a:r>
              <a:rPr lang="en-US" altLang="ko-KR" sz="1600" dirty="0">
                <a:ea typeface="+mn-lt"/>
                <a:cs typeface="+mn-lt"/>
              </a:rPr>
              <a:t>'8'이 더 잘 </a:t>
            </a:r>
            <a:r>
              <a:rPr lang="en-US" altLang="ko-KR" sz="1600" err="1">
                <a:ea typeface="+mn-lt"/>
                <a:cs typeface="+mn-lt"/>
              </a:rPr>
              <a:t>인식되어졌음</a:t>
            </a:r>
            <a:r>
              <a:rPr lang="en-US" altLang="ko-KR" sz="1600" dirty="0">
                <a:ea typeface="+mn-lt"/>
                <a:cs typeface="+mn-lt"/>
              </a:rPr>
              <a:t>.</a:t>
            </a:r>
            <a:endParaRPr lang="ko-KR" altLang="en-US" sz="1600" dirty="0">
              <a:ea typeface="Malgun Gothic Semilight"/>
              <a:cs typeface="Malgun Gothic Semilight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BD29EA1-122F-9FD2-4D65-54886799F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572238"/>
              </p:ext>
            </p:extLst>
          </p:nvPr>
        </p:nvGraphicFramePr>
        <p:xfrm>
          <a:off x="6239566" y="2520785"/>
          <a:ext cx="5038270" cy="150008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07654">
                  <a:extLst>
                    <a:ext uri="{9D8B030D-6E8A-4147-A177-3AD203B41FA5}">
                      <a16:colId xmlns:a16="http://schemas.microsoft.com/office/drawing/2014/main" val="1041810238"/>
                    </a:ext>
                  </a:extLst>
                </a:gridCol>
                <a:gridCol w="1007654">
                  <a:extLst>
                    <a:ext uri="{9D8B030D-6E8A-4147-A177-3AD203B41FA5}">
                      <a16:colId xmlns:a16="http://schemas.microsoft.com/office/drawing/2014/main" val="1959460425"/>
                    </a:ext>
                  </a:extLst>
                </a:gridCol>
                <a:gridCol w="1007654">
                  <a:extLst>
                    <a:ext uri="{9D8B030D-6E8A-4147-A177-3AD203B41FA5}">
                      <a16:colId xmlns:a16="http://schemas.microsoft.com/office/drawing/2014/main" val="2269584723"/>
                    </a:ext>
                  </a:extLst>
                </a:gridCol>
                <a:gridCol w="1007654">
                  <a:extLst>
                    <a:ext uri="{9D8B030D-6E8A-4147-A177-3AD203B41FA5}">
                      <a16:colId xmlns:a16="http://schemas.microsoft.com/office/drawing/2014/main" val="3697683752"/>
                    </a:ext>
                  </a:extLst>
                </a:gridCol>
                <a:gridCol w="1007654">
                  <a:extLst>
                    <a:ext uri="{9D8B030D-6E8A-4147-A177-3AD203B41FA5}">
                      <a16:colId xmlns:a16="http://schemas.microsoft.com/office/drawing/2014/main" val="3557370974"/>
                    </a:ext>
                  </a:extLst>
                </a:gridCol>
              </a:tblGrid>
              <a:tr h="400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평가지표 </a:t>
                      </a:r>
                      <a:r>
                        <a:rPr lang="en-US" altLang="ko-KR" sz="1000" b="1" dirty="0">
                          <a:effectLst/>
                        </a:rPr>
                        <a:t>(</a:t>
                      </a:r>
                      <a:r>
                        <a:rPr lang="af-ZA" sz="1000" b="1" err="1">
                          <a:effectLst/>
                        </a:rPr>
                        <a:t>Metric</a:t>
                      </a:r>
                      <a:r>
                        <a:rPr lang="af-ZA" sz="1000" b="1" dirty="0">
                          <a:effectLst/>
                        </a:rPr>
                        <a:t>)</a:t>
                      </a:r>
                      <a:endParaRPr lang="af-ZA" sz="1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기본 모델 </a:t>
                      </a:r>
                      <a:r>
                        <a:rPr lang="en-US" altLang="ko-KR" sz="1000" b="1" dirty="0">
                          <a:effectLst/>
                        </a:rPr>
                        <a:t>(</a:t>
                      </a:r>
                      <a:r>
                        <a:rPr lang="af-ZA" sz="1000" b="1" err="1">
                          <a:effectLst/>
                        </a:rPr>
                        <a:t>Simple</a:t>
                      </a:r>
                      <a:r>
                        <a:rPr lang="af-ZA" sz="1000" b="1" dirty="0">
                          <a:effectLst/>
                        </a:rPr>
                        <a:t>)</a:t>
                      </a:r>
                      <a:endParaRPr lang="af-ZA" sz="1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af-ZA" sz="1000" b="1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chemeClr val="bg1"/>
                      </a:solidFill>
                    </a:lnR>
                    <a:lnT w="9524">
                      <a:solidFill>
                        <a:schemeClr val="bg1"/>
                      </a:solidFill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맞춤형 모델 </a:t>
                      </a:r>
                      <a:r>
                        <a:rPr lang="en-US" altLang="ko-KR" sz="1000" b="1" dirty="0">
                          <a:effectLst/>
                        </a:rPr>
                        <a:t>(</a:t>
                      </a:r>
                      <a:r>
                        <a:rPr lang="af-ZA" sz="1000" b="1" err="1">
                          <a:effectLst/>
                        </a:rPr>
                        <a:t>Fine-tuned</a:t>
                      </a:r>
                      <a:r>
                        <a:rPr lang="af-ZA" sz="1000" b="1" dirty="0">
                          <a:effectLst/>
                        </a:rPr>
                        <a:t>)</a:t>
                      </a:r>
                      <a:endParaRPr lang="af-ZA" sz="1000">
                        <a:effectLst/>
                      </a:endParaRPr>
                    </a:p>
                  </a:txBody>
                  <a:tcPr anchor="ctr">
                    <a:lnL w="9524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개선 정도</a:t>
                      </a:r>
                      <a:endParaRPr lang="ko-KR" altLang="en-US" sz="1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144174"/>
                  </a:ext>
                </a:extLst>
              </a:tr>
              <a:tr h="307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전체 정확도 </a:t>
                      </a:r>
                      <a:r>
                        <a:rPr lang="en-US" altLang="ko-KR" sz="1000" b="1" dirty="0">
                          <a:effectLst/>
                        </a:rPr>
                        <a:t>(</a:t>
                      </a:r>
                      <a:r>
                        <a:rPr lang="af-ZA" sz="1000" b="1" err="1">
                          <a:effectLst/>
                        </a:rPr>
                        <a:t>Accuracy</a:t>
                      </a:r>
                      <a:r>
                        <a:rPr lang="af-ZA" sz="1000" b="1" dirty="0">
                          <a:effectLst/>
                        </a:rPr>
                        <a:t>)</a:t>
                      </a:r>
                      <a:endParaRPr lang="af-ZA" sz="1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>
                          <a:effectLst/>
                        </a:rPr>
                        <a:t>98.52%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altLang="ko-KR" sz="10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chemeClr val="bg1"/>
                      </a:solidFill>
                    </a:lnR>
                    <a:lnT w="9524">
                      <a:solidFill>
                        <a:schemeClr val="bg1"/>
                      </a:solidFill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98.93%</a:t>
                      </a:r>
                      <a:endParaRPr lang="ko-KR" altLang="en-US" sz="1000">
                        <a:effectLst/>
                      </a:endParaRPr>
                    </a:p>
                  </a:txBody>
                  <a:tcPr anchor="ctr">
                    <a:lnL w="9524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000" b="1" dirty="0">
                          <a:effectLst/>
                        </a:rPr>
                        <a:t>+0.41%p</a:t>
                      </a:r>
                      <a:endParaRPr lang="af-ZA" sz="1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6601205"/>
                  </a:ext>
                </a:extLst>
              </a:tr>
              <a:tr h="307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정밀도 </a:t>
                      </a:r>
                      <a:r>
                        <a:rPr lang="en-US" altLang="ko-KR" sz="1000" b="1" dirty="0">
                          <a:effectLst/>
                        </a:rPr>
                        <a:t>(</a:t>
                      </a:r>
                      <a:r>
                        <a:rPr lang="af-ZA" sz="1000" b="1" err="1">
                          <a:effectLst/>
                        </a:rPr>
                        <a:t>Precision</a:t>
                      </a:r>
                      <a:r>
                        <a:rPr lang="af-ZA" sz="1000" b="1" dirty="0">
                          <a:effectLst/>
                        </a:rPr>
                        <a:t>)</a:t>
                      </a:r>
                      <a:endParaRPr lang="af-ZA" sz="1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>
                          <a:effectLst/>
                        </a:rPr>
                        <a:t>98.54%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altLang="ko-KR" sz="10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chemeClr val="bg1"/>
                      </a:solidFill>
                    </a:lnR>
                    <a:lnT w="9524">
                      <a:solidFill>
                        <a:schemeClr val="bg1"/>
                      </a:solidFill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98.92%</a:t>
                      </a:r>
                      <a:endParaRPr lang="ko-KR" altLang="en-US" sz="1000">
                        <a:effectLst/>
                      </a:endParaRPr>
                    </a:p>
                  </a:txBody>
                  <a:tcPr anchor="ctr">
                    <a:lnL w="9524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000" b="1" dirty="0">
                          <a:effectLst/>
                        </a:rPr>
                        <a:t>+0.38%p</a:t>
                      </a:r>
                      <a:endParaRPr lang="af-ZA" sz="1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152706"/>
                  </a:ext>
                </a:extLst>
              </a:tr>
              <a:tr h="307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err="1">
                          <a:effectLst/>
                        </a:rPr>
                        <a:t>재현율</a:t>
                      </a:r>
                      <a:r>
                        <a:rPr lang="ko-KR" altLang="en-US" sz="1000" b="1" dirty="0">
                          <a:effectLst/>
                        </a:rPr>
                        <a:t> </a:t>
                      </a:r>
                      <a:r>
                        <a:rPr lang="en-US" altLang="ko-KR" sz="1000" b="1" dirty="0">
                          <a:effectLst/>
                        </a:rPr>
                        <a:t>(</a:t>
                      </a:r>
                      <a:r>
                        <a:rPr lang="af-ZA" sz="1000" b="1" err="1">
                          <a:effectLst/>
                        </a:rPr>
                        <a:t>Recall</a:t>
                      </a:r>
                      <a:r>
                        <a:rPr lang="af-ZA" sz="1000" b="1" dirty="0">
                          <a:effectLst/>
                        </a:rPr>
                        <a:t>)</a:t>
                      </a:r>
                      <a:endParaRPr lang="af-ZA" sz="1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>
                          <a:effectLst/>
                        </a:rPr>
                        <a:t>98.50%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altLang="ko-KR" sz="10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chemeClr val="bg1"/>
                      </a:solidFill>
                    </a:lnR>
                    <a:lnT w="9524">
                      <a:solidFill>
                        <a:schemeClr val="bg1"/>
                      </a:solidFill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98.92%</a:t>
                      </a:r>
                      <a:endParaRPr lang="ko-KR" altLang="en-US" sz="1000">
                        <a:effectLst/>
                      </a:endParaRPr>
                    </a:p>
                  </a:txBody>
                  <a:tcPr anchor="ctr">
                    <a:lnL w="9524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000" b="1" dirty="0">
                          <a:effectLst/>
                        </a:rPr>
                        <a:t>+0.42%p</a:t>
                      </a:r>
                      <a:endParaRPr lang="af-ZA" sz="1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045218"/>
                  </a:ext>
                </a:extLst>
              </a:tr>
            </a:tbl>
          </a:graphicData>
        </a:graphic>
      </p:graphicFrame>
      <p:pic>
        <p:nvPicPr>
          <p:cNvPr id="11" name="내용 개체 틀 10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E3DE0E-2530-B3AF-CDA5-639A0919921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12413" y="4414550"/>
            <a:ext cx="311467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386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4F864C-99E6-B9E5-ED76-E9E68F63C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Malgun Gothic"/>
              </a:rPr>
              <a:t>프로그램 흐름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87DD28-31CE-7BB8-E93F-EDD66BF9E2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lIns="109728" tIns="109728" rIns="109728" bIns="91440" anchor="t"/>
          <a:lstStyle/>
          <a:p>
            <a:r>
              <a:rPr lang="en-US" altLang="ko-KR" sz="1600" dirty="0" err="1">
                <a:ea typeface="Malgun Gothic Semilight"/>
                <a:cs typeface="Malgun Gothic Semilight"/>
              </a:rPr>
              <a:t>설정할</a:t>
            </a:r>
            <a:r>
              <a:rPr lang="en-US" altLang="ko-KR" sz="1600" dirty="0">
                <a:ea typeface="Malgun Gothic Semilight"/>
                <a:cs typeface="Malgun Gothic Semilight"/>
              </a:rPr>
              <a:t> </a:t>
            </a:r>
            <a:r>
              <a:rPr lang="en-US" altLang="ko-KR" sz="1600" dirty="0" err="1">
                <a:ea typeface="Malgun Gothic Semilight"/>
                <a:cs typeface="Malgun Gothic Semilight"/>
              </a:rPr>
              <a:t>비밀번호</a:t>
            </a:r>
            <a:r>
              <a:rPr lang="en-US" altLang="ko-KR" sz="1600" dirty="0">
                <a:ea typeface="Malgun Gothic Semilight"/>
                <a:cs typeface="Malgun Gothic Semilight"/>
              </a:rPr>
              <a:t> </a:t>
            </a:r>
            <a:r>
              <a:rPr lang="en-US" altLang="ko-KR" sz="1600" dirty="0" err="1">
                <a:ea typeface="Malgun Gothic Semilight"/>
                <a:cs typeface="Malgun Gothic Semilight"/>
              </a:rPr>
              <a:t>입력</a:t>
            </a:r>
            <a:endParaRPr lang="en-US" altLang="ko-KR" sz="1600" dirty="0">
              <a:ea typeface="Malgun Gothic Semilight"/>
              <a:cs typeface="Malgun Gothic Semilight"/>
            </a:endParaRPr>
          </a:p>
          <a:p>
            <a:r>
              <a:rPr lang="en-US" altLang="ko-KR" sz="1600" dirty="0" err="1">
                <a:ea typeface="Malgun Gothic Semilight"/>
                <a:cs typeface="Malgun Gothic Semilight"/>
              </a:rPr>
              <a:t>숫자</a:t>
            </a:r>
            <a:r>
              <a:rPr lang="en-US" altLang="ko-KR" sz="1600" dirty="0">
                <a:ea typeface="Malgun Gothic Semilight"/>
                <a:cs typeface="Malgun Gothic Semilight"/>
              </a:rPr>
              <a:t> </a:t>
            </a:r>
            <a:r>
              <a:rPr lang="en-US" altLang="ko-KR" sz="1600" dirty="0" err="1">
                <a:ea typeface="Malgun Gothic Semilight"/>
                <a:cs typeface="Malgun Gothic Semilight"/>
              </a:rPr>
              <a:t>인식</a:t>
            </a:r>
            <a:endParaRPr lang="en-US" altLang="ko-KR" sz="1600" dirty="0">
              <a:ea typeface="Malgun Gothic Semilight"/>
              <a:cs typeface="Malgun Gothic Semilight"/>
            </a:endParaRPr>
          </a:p>
          <a:p>
            <a:r>
              <a:rPr lang="en-US" altLang="ko-KR" sz="1600" dirty="0" err="1">
                <a:ea typeface="Malgun Gothic Semilight"/>
                <a:cs typeface="Malgun Gothic Semilight"/>
              </a:rPr>
              <a:t>입력한</a:t>
            </a:r>
            <a:r>
              <a:rPr lang="en-US" altLang="ko-KR" sz="1600" dirty="0">
                <a:ea typeface="Malgun Gothic Semilight"/>
                <a:cs typeface="Malgun Gothic Semilight"/>
              </a:rPr>
              <a:t> </a:t>
            </a:r>
            <a:r>
              <a:rPr lang="en-US" altLang="ko-KR" sz="1600" dirty="0" err="1">
                <a:ea typeface="Malgun Gothic Semilight"/>
                <a:cs typeface="Malgun Gothic Semilight"/>
              </a:rPr>
              <a:t>비밀번호와</a:t>
            </a:r>
            <a:r>
              <a:rPr lang="en-US" altLang="ko-KR" sz="1600" dirty="0">
                <a:ea typeface="Malgun Gothic Semilight"/>
                <a:cs typeface="Malgun Gothic Semilight"/>
              </a:rPr>
              <a:t> </a:t>
            </a:r>
            <a:r>
              <a:rPr lang="en-US" altLang="ko-KR" sz="1600" dirty="0" err="1">
                <a:ea typeface="Malgun Gothic Semilight"/>
                <a:cs typeface="Malgun Gothic Semilight"/>
              </a:rPr>
              <a:t>숫자가</a:t>
            </a:r>
            <a:r>
              <a:rPr lang="en-US" altLang="ko-KR" sz="1600" dirty="0">
                <a:ea typeface="Malgun Gothic Semilight"/>
                <a:cs typeface="Malgun Gothic Semilight"/>
              </a:rPr>
              <a:t> </a:t>
            </a:r>
            <a:r>
              <a:rPr lang="en-US" altLang="ko-KR" sz="1600" dirty="0" err="1">
                <a:ea typeface="Malgun Gothic Semilight"/>
                <a:cs typeface="Malgun Gothic Semilight"/>
              </a:rPr>
              <a:t>일치한다면</a:t>
            </a:r>
            <a:r>
              <a:rPr lang="en-US" altLang="ko-KR" sz="1600" dirty="0">
                <a:ea typeface="Malgun Gothic Semilight"/>
                <a:cs typeface="Malgun Gothic Semilight"/>
              </a:rPr>
              <a:t> "</a:t>
            </a:r>
            <a:r>
              <a:rPr lang="en-US" altLang="ko-KR" sz="1600" dirty="0" err="1">
                <a:ea typeface="Malgun Gothic Semilight"/>
                <a:cs typeface="Malgun Gothic Semilight"/>
              </a:rPr>
              <a:t>성공</a:t>
            </a:r>
            <a:r>
              <a:rPr lang="en-US" altLang="ko-KR" sz="1600" dirty="0">
                <a:ea typeface="Malgun Gothic Semilight"/>
                <a:cs typeface="Malgun Gothic Semilight"/>
              </a:rPr>
              <a:t>" </a:t>
            </a:r>
            <a:r>
              <a:rPr lang="en-US" altLang="ko-KR" sz="1600" dirty="0" err="1">
                <a:ea typeface="Malgun Gothic Semilight"/>
                <a:cs typeface="Malgun Gothic Semilight"/>
              </a:rPr>
              <a:t>아니면</a:t>
            </a:r>
            <a:r>
              <a:rPr lang="en-US" altLang="ko-KR" sz="1600" dirty="0">
                <a:ea typeface="Malgun Gothic Semilight"/>
                <a:cs typeface="Malgun Gothic Semilight"/>
              </a:rPr>
              <a:t> "</a:t>
            </a:r>
            <a:r>
              <a:rPr lang="en-US" altLang="ko-KR" sz="1600" dirty="0" err="1">
                <a:ea typeface="Malgun Gothic Semilight"/>
                <a:cs typeface="Malgun Gothic Semilight"/>
              </a:rPr>
              <a:t>실패</a:t>
            </a:r>
            <a:r>
              <a:rPr lang="en-US" altLang="ko-KR" sz="1600" dirty="0">
                <a:ea typeface="Malgun Gothic Semilight"/>
                <a:cs typeface="Malgun Gothic Semilight"/>
              </a:rPr>
              <a:t>"</a:t>
            </a:r>
          </a:p>
          <a:p>
            <a:endParaRPr lang="ko-KR" altLang="en-US" sz="1600" dirty="0">
              <a:ea typeface="Malgun Gothic Semilight"/>
              <a:cs typeface="Malgun Gothic Semi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6A94DE-E571-72B4-6742-CE25A8506FEF}"/>
              </a:ext>
            </a:extLst>
          </p:cNvPr>
          <p:cNvSpPr txBox="1"/>
          <p:nvPr/>
        </p:nvSpPr>
        <p:spPr>
          <a:xfrm>
            <a:off x="874515" y="5259087"/>
            <a:ext cx="447702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400" dirty="0">
                <a:ea typeface="Malgun Gothic Semilight"/>
                <a:cs typeface="Malgun Gothic Semilight"/>
                <a:hlinkClick r:id="rId2"/>
              </a:rPr>
              <a:t>기본 모델 영상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BA8FB4-C19F-EA0F-0ED4-E29F31A2A485}"/>
              </a:ext>
            </a:extLst>
          </p:cNvPr>
          <p:cNvSpPr txBox="1"/>
          <p:nvPr/>
        </p:nvSpPr>
        <p:spPr>
          <a:xfrm>
            <a:off x="860137" y="5661653"/>
            <a:ext cx="447702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400" dirty="0">
                <a:ea typeface="Malgun Gothic Semilight"/>
                <a:cs typeface="Malgun Gothic Semilight"/>
                <a:hlinkClick r:id="rId3"/>
              </a:rPr>
              <a:t>튜닝모델영상</a:t>
            </a:r>
            <a:endParaRPr lang="en-US" altLang="ko-KR" sz="1400" dirty="0">
              <a:ea typeface="Malgun Gothic Semilight"/>
              <a:cs typeface="Malgun Gothic Semilight"/>
            </a:endParaRPr>
          </a:p>
        </p:txBody>
      </p:sp>
      <p:pic>
        <p:nvPicPr>
          <p:cNvPr id="12" name="내용 개체 틀 11" descr="실내, 벽, 텍스트, 가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6ADE05-518D-7A94-6754-4DB64725BB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7427383" y="1411397"/>
            <a:ext cx="2779512" cy="2272198"/>
          </a:xfrm>
          <a:prstGeom prst="rect">
            <a:avLst/>
          </a:prstGeom>
        </p:spPr>
      </p:pic>
      <p:pic>
        <p:nvPicPr>
          <p:cNvPr id="13" name="그림 12" descr="텍스트, 실내, 벽, 컴퓨터 모니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C9CD77-3F63-B0FE-174A-C6EC3A661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2850" y="3724366"/>
            <a:ext cx="2766566" cy="2155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354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7F07B9-8911-EB8E-5183-87DBBD9E0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Malgun Gothic"/>
              </a:rPr>
              <a:t>어려웠던 점 및 해결방안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ABD8D0-E1C7-4880-49F6-D3E44470A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r>
              <a:rPr lang="ko-KR" altLang="en-US" sz="1800" dirty="0">
                <a:ea typeface="Malgun Gothic Semilight"/>
                <a:cs typeface="Malgun Gothic Semilight"/>
              </a:rPr>
              <a:t>맨 처음엔 </a:t>
            </a:r>
            <a:r>
              <a:rPr lang="ko-KR" altLang="en-US" sz="1800" err="1">
                <a:ea typeface="Malgun Gothic Semilight"/>
                <a:cs typeface="Malgun Gothic Semilight"/>
              </a:rPr>
              <a:t>OpenCV</a:t>
            </a:r>
            <a:r>
              <a:rPr lang="ko-KR" altLang="en-US" sz="1800" dirty="0">
                <a:ea typeface="Malgun Gothic Semilight"/>
                <a:cs typeface="Malgun Gothic Semilight"/>
              </a:rPr>
              <a:t> 만으로 해결하려고 했지만, 사진마다 너무 특징이 달라서 어떤 사진에는 특성이 잘 먹고 어떤 사진에는 특성이 잘 </a:t>
            </a:r>
            <a:r>
              <a:rPr lang="ko-KR" altLang="en-US" sz="1800" err="1">
                <a:ea typeface="Malgun Gothic Semilight"/>
                <a:cs typeface="Malgun Gothic Semilight"/>
              </a:rPr>
              <a:t>안먹기도</a:t>
            </a:r>
            <a:r>
              <a:rPr lang="ko-KR" altLang="en-US" sz="1800" dirty="0">
                <a:ea typeface="Malgun Gothic Semilight"/>
                <a:cs typeface="Malgun Gothic Semilight"/>
              </a:rPr>
              <a:t> 했음.</a:t>
            </a:r>
            <a:endParaRPr lang="ko-KR" altLang="en-US" sz="1800">
              <a:ea typeface="Malgun Gothic Semilight"/>
              <a:cs typeface="Malgun Gothic Semilight"/>
            </a:endParaRPr>
          </a:p>
          <a:p>
            <a:r>
              <a:rPr lang="ko-KR" sz="1800" dirty="0"/>
              <a:t>.</a:t>
            </a:r>
            <a:r>
              <a:rPr lang="ko-KR" sz="1800" dirty="0" err="1"/>
              <a:t>손글씨</a:t>
            </a:r>
            <a:r>
              <a:rPr lang="ko-KR" sz="1800" dirty="0"/>
              <a:t> 인식률 문제</a:t>
            </a:r>
            <a:endParaRPr lang="ko-KR" sz="1800" dirty="0">
              <a:ea typeface="Malgun Gothic Semilight"/>
              <a:cs typeface="Malgun Gothic Semilight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ko-KR" altLang="en-US" sz="1800" dirty="0">
                <a:ea typeface="+mn-lt"/>
                <a:cs typeface="+mn-lt"/>
              </a:rPr>
              <a:t>해결 방법</a:t>
            </a:r>
            <a:r>
              <a:rPr lang="en-US" altLang="ko-KR" sz="1800" dirty="0">
                <a:ea typeface="+mn-lt"/>
                <a:cs typeface="+mn-lt"/>
              </a:rPr>
              <a:t>:</a:t>
            </a:r>
            <a:r>
              <a:rPr lang="ko-KR" altLang="en-US" sz="1800" dirty="0">
                <a:ea typeface="+mn-lt"/>
                <a:cs typeface="+mn-lt"/>
              </a:rPr>
              <a:t> </a:t>
            </a:r>
            <a:r>
              <a:rPr lang="ko-KR" sz="1800" dirty="0">
                <a:ea typeface="+mn-lt"/>
                <a:cs typeface="+mn-lt"/>
              </a:rPr>
              <a:t>사용자의 필체를 직접 수집하여 미세 조정 학습을 </a:t>
            </a:r>
            <a:r>
              <a:rPr lang="ko-KR" altLang="en-US" sz="1800" dirty="0">
                <a:ea typeface="+mn-lt"/>
                <a:cs typeface="+mn-lt"/>
              </a:rPr>
              <a:t>수행</a:t>
            </a:r>
            <a:r>
              <a:rPr lang="ko-KR" sz="1800" dirty="0">
                <a:ea typeface="+mn-lt"/>
                <a:cs typeface="+mn-lt"/>
              </a:rPr>
              <a:t>.</a:t>
            </a:r>
            <a:endParaRPr lang="ko-KR" sz="1800" dirty="0">
              <a:ea typeface="Malgun Gothic Semilight"/>
              <a:cs typeface="Malgun Gothic Semilight"/>
            </a:endParaRPr>
          </a:p>
          <a:p>
            <a:r>
              <a:rPr lang="ko-KR" sz="1800" dirty="0">
                <a:ea typeface="+mn-lt"/>
                <a:cs typeface="+mn-lt"/>
              </a:rPr>
              <a:t>숫자 영역 추출 문제 </a:t>
            </a:r>
            <a:r>
              <a:rPr lang="en-US" altLang="ko-KR" sz="1800" dirty="0">
                <a:ea typeface="+mn-lt"/>
                <a:cs typeface="+mn-lt"/>
              </a:rPr>
              <a:t>(</a:t>
            </a:r>
            <a:r>
              <a:rPr lang="ko-KR" sz="1800" dirty="0">
                <a:ea typeface="+mn-lt"/>
                <a:cs typeface="+mn-lt"/>
              </a:rPr>
              <a:t>객체 분할 문제</a:t>
            </a:r>
            <a:r>
              <a:rPr lang="en-US" altLang="ko-KR" sz="1800" dirty="0">
                <a:ea typeface="+mn-lt"/>
                <a:cs typeface="+mn-lt"/>
              </a:rPr>
              <a:t>)</a:t>
            </a:r>
            <a:endParaRPr lang="ko-KR" altLang="en-US" sz="1800" dirty="0">
              <a:ea typeface="+mn-lt"/>
              <a:cs typeface="+mn-lt"/>
            </a:endParaRPr>
          </a:p>
          <a:p>
            <a:pPr marL="493395" lvl="1"/>
            <a:r>
              <a:rPr lang="ko-KR" dirty="0">
                <a:ea typeface="+mn-lt"/>
                <a:cs typeface="+mn-lt"/>
              </a:rPr>
              <a:t>해결 방법: </a:t>
            </a:r>
            <a:r>
              <a:rPr lang="ko-KR" dirty="0" err="1">
                <a:ea typeface="+mn-lt"/>
                <a:cs typeface="+mn-lt"/>
              </a:rPr>
              <a:t>OpenCV의</a:t>
            </a:r>
            <a:r>
              <a:rPr lang="ko-KR" dirty="0">
                <a:ea typeface="+mn-lt"/>
                <a:cs typeface="+mn-lt"/>
              </a:rPr>
              <a:t> </a:t>
            </a:r>
            <a:r>
              <a:rPr lang="ko-KR" dirty="0" err="1">
                <a:latin typeface="Consolas"/>
                <a:ea typeface="Malgun Gothic Semilight"/>
                <a:cs typeface="Malgun Gothic Semilight"/>
              </a:rPr>
              <a:t>findContours</a:t>
            </a:r>
            <a:r>
              <a:rPr lang="ko-KR" dirty="0">
                <a:ea typeface="+mn-lt"/>
                <a:cs typeface="+mn-lt"/>
              </a:rPr>
              <a:t> 함수를 사용하여 객체의 외곽선을 </a:t>
            </a:r>
            <a:r>
              <a:rPr lang="ko-KR" altLang="en-US" dirty="0">
                <a:ea typeface="+mn-lt"/>
                <a:cs typeface="+mn-lt"/>
              </a:rPr>
              <a:t>탐지.</a:t>
            </a:r>
            <a:endParaRPr lang="ko-KR" altLang="en-US" dirty="0">
              <a:ea typeface="Malgun Gothic Semilight"/>
              <a:cs typeface="Malgun Gothic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3870667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EA5596-8A8D-DD14-098E-263C71984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Malgun Gothic"/>
              </a:rPr>
              <a:t>하드웨어와 연결 방안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FEB105-F342-71C5-83CF-5F7A3DBB2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547208"/>
            <a:ext cx="5528174" cy="3652424"/>
          </a:xfrm>
        </p:spPr>
        <p:txBody>
          <a:bodyPr lIns="109728" tIns="109728" rIns="109728" bIns="91440" anchor="t"/>
          <a:lstStyle/>
          <a:p>
            <a:r>
              <a:rPr lang="ko-KR" dirty="0">
                <a:ea typeface="+mn-lt"/>
                <a:cs typeface="+mn-lt"/>
              </a:rPr>
              <a:t>라즈베리 파이에 카메라 모듈을 달고, 이 파이썬 코드를 그대로 </a:t>
            </a:r>
            <a:r>
              <a:rPr lang="ko-KR" altLang="en-US" dirty="0">
                <a:ea typeface="+mn-lt"/>
                <a:cs typeface="+mn-lt"/>
              </a:rPr>
              <a:t>실행</a:t>
            </a:r>
            <a:r>
              <a:rPr lang="ko-KR" dirty="0">
                <a:ea typeface="+mn-lt"/>
                <a:cs typeface="+mn-lt"/>
              </a:rPr>
              <a:t>.</a:t>
            </a:r>
            <a:endParaRPr lang="ko-KR" altLang="en-US" dirty="0">
              <a:ea typeface="+mn-lt"/>
              <a:cs typeface="+mn-lt"/>
            </a:endParaRPr>
          </a:p>
          <a:p>
            <a:r>
              <a:rPr lang="ko-KR" dirty="0">
                <a:ea typeface="+mn-lt"/>
                <a:cs typeface="+mn-lt"/>
              </a:rPr>
              <a:t>인식된 결과가 설정한 비밀번호와 일치하면, </a:t>
            </a:r>
            <a:r>
              <a:rPr lang="ko-KR" altLang="en-US" dirty="0" err="1">
                <a:ea typeface="+mn-lt"/>
                <a:cs typeface="+mn-lt"/>
              </a:rPr>
              <a:t>잠금장치를</a:t>
            </a:r>
            <a:r>
              <a:rPr lang="ko-KR" dirty="0">
                <a:ea typeface="+mn-lt"/>
                <a:cs typeface="+mn-lt"/>
              </a:rPr>
              <a:t> </a:t>
            </a:r>
            <a:r>
              <a:rPr lang="ko-KR" dirty="0" err="1">
                <a:ea typeface="+mn-lt"/>
                <a:cs typeface="+mn-lt"/>
              </a:rPr>
              <a:t>구동시켜</a:t>
            </a:r>
            <a:r>
              <a:rPr lang="ko-KR" dirty="0">
                <a:ea typeface="+mn-lt"/>
                <a:cs typeface="+mn-lt"/>
              </a:rPr>
              <a:t> 문을 열 수 있다.</a:t>
            </a:r>
          </a:p>
        </p:txBody>
      </p:sp>
      <p:pic>
        <p:nvPicPr>
          <p:cNvPr id="4" name="그림 3" descr="텍스트, 스크린샷, 기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075887-79CB-D2C9-BD11-C6777128F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307" y="1928004"/>
            <a:ext cx="5305425" cy="331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261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D3334-E973-7C8B-9C24-EC7377CFE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Malgun Gothic"/>
              </a:rPr>
              <a:t>개선방안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C782AB-99AD-2F06-7C9B-5595BA3CA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r>
              <a:rPr lang="ko-KR" altLang="en-US" dirty="0">
                <a:ea typeface="Malgun Gothic Semilight"/>
                <a:cs typeface="Malgun Gothic Semilight"/>
              </a:rPr>
              <a:t>나의 </a:t>
            </a:r>
            <a:r>
              <a:rPr lang="ko-KR" altLang="en-US" dirty="0" err="1">
                <a:ea typeface="Malgun Gothic Semilight"/>
                <a:cs typeface="Malgun Gothic Semilight"/>
              </a:rPr>
              <a:t>손글씨</a:t>
            </a:r>
            <a:r>
              <a:rPr lang="ko-KR" altLang="en-US" dirty="0">
                <a:ea typeface="Malgun Gothic Semilight"/>
                <a:cs typeface="Malgun Gothic Semilight"/>
              </a:rPr>
              <a:t> 말고 개개인의 </a:t>
            </a:r>
            <a:r>
              <a:rPr lang="ko-KR" altLang="en-US" dirty="0" err="1">
                <a:ea typeface="Malgun Gothic Semilight"/>
                <a:cs typeface="Malgun Gothic Semilight"/>
              </a:rPr>
              <a:t>손글씨를</a:t>
            </a:r>
            <a:r>
              <a:rPr lang="ko-KR" altLang="en-US" dirty="0">
                <a:ea typeface="Malgun Gothic Semilight"/>
                <a:cs typeface="Malgun Gothic Semilight"/>
              </a:rPr>
              <a:t> 학습시켜 개인화를 시키는 방향도 검토 필요 -&gt; 이렇게 하기 위해서는 캠을 켜서 </a:t>
            </a:r>
            <a:r>
              <a:rPr lang="ko-KR" altLang="en-US" dirty="0" err="1">
                <a:ea typeface="Malgun Gothic Semilight"/>
                <a:cs typeface="Malgun Gothic Semilight"/>
              </a:rPr>
              <a:t>손글씨</a:t>
            </a:r>
            <a:r>
              <a:rPr lang="ko-KR" altLang="en-US" dirty="0">
                <a:ea typeface="Malgun Gothic Semilight"/>
                <a:cs typeface="Malgun Gothic Semilight"/>
              </a:rPr>
              <a:t> 추출하는 방법 외에 파일 업로드 방법이 더 편할 수도 있다고 생각</a:t>
            </a:r>
            <a:endParaRPr lang="ko-KR" dirty="0"/>
          </a:p>
          <a:p>
            <a:r>
              <a:rPr lang="ko-KR" altLang="en-US" dirty="0">
                <a:ea typeface="Malgun Gothic Semilight"/>
                <a:cs typeface="Malgun Gothic Semilight"/>
              </a:rPr>
              <a:t>내가 올린 이미지를 검증하는 방향도 </a:t>
            </a:r>
            <a:r>
              <a:rPr lang="ko-KR" altLang="en-US" dirty="0" err="1">
                <a:ea typeface="Malgun Gothic Semilight"/>
                <a:cs typeface="Malgun Gothic Semilight"/>
              </a:rPr>
              <a:t>고려해야할</a:t>
            </a:r>
            <a:r>
              <a:rPr lang="ko-KR" altLang="en-US" dirty="0">
                <a:ea typeface="Malgun Gothic Semilight"/>
                <a:cs typeface="Malgun Gothic Semilight"/>
              </a:rPr>
              <a:t> 것 같음 (실수로 올렸을 때 발생 가능)</a:t>
            </a:r>
          </a:p>
          <a:p>
            <a:r>
              <a:rPr lang="ko-KR" altLang="en-US" dirty="0">
                <a:ea typeface="Malgun Gothic Semilight"/>
                <a:cs typeface="Malgun Gothic Semilight"/>
              </a:rPr>
              <a:t>지금은 분류를 수동으로 해주지만, 자동으로 해주는 것도 고려 필요</a:t>
            </a:r>
          </a:p>
        </p:txBody>
      </p:sp>
    </p:spTree>
    <p:extLst>
      <p:ext uri="{BB962C8B-B14F-4D97-AF65-F5344CB8AC3E}">
        <p14:creationId xmlns:p14="http://schemas.microsoft.com/office/powerpoint/2010/main" val="63717821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Malgun Gothic"/>
        <a:ea typeface=""/>
        <a:cs typeface=""/>
      </a:majorFont>
      <a:minorFont>
        <a:latin typeface="Malgun Gothic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5" baseType="lpstr">
      <vt:lpstr>DashVTI</vt:lpstr>
      <vt:lpstr>딥러닝 프로젝트</vt:lpstr>
      <vt:lpstr>주제</vt:lpstr>
      <vt:lpstr>전처리 단계 (이미지 정제 과정)</vt:lpstr>
      <vt:lpstr>사용자 정의 데이터셋 구축</vt:lpstr>
      <vt:lpstr>모델 학습</vt:lpstr>
      <vt:lpstr>기본 모델</vt:lpstr>
      <vt:lpstr>기본 모델</vt:lpstr>
      <vt:lpstr>튜닝 모델</vt:lpstr>
      <vt:lpstr>튜닝 모델</vt:lpstr>
      <vt:lpstr>모델 비교</vt:lpstr>
      <vt:lpstr>프로그램 흐름</vt:lpstr>
      <vt:lpstr>어려웠던 점 및 해결방안</vt:lpstr>
      <vt:lpstr>하드웨어와 연결 방안</vt:lpstr>
      <vt:lpstr>개선방안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605</cp:revision>
  <dcterms:created xsi:type="dcterms:W3CDTF">2026-01-15T13:25:30Z</dcterms:created>
  <dcterms:modified xsi:type="dcterms:W3CDTF">2026-01-16T05:39:24Z</dcterms:modified>
</cp:coreProperties>
</file>